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3" r:id="rId6"/>
    <p:sldId id="270" r:id="rId7"/>
    <p:sldId id="275" r:id="rId8"/>
    <p:sldId id="271" r:id="rId9"/>
    <p:sldId id="265" r:id="rId10"/>
    <p:sldId id="268" r:id="rId11"/>
    <p:sldId id="274" r:id="rId12"/>
    <p:sldId id="260" r:id="rId13"/>
    <p:sldId id="261" r:id="rId14"/>
    <p:sldId id="266" r:id="rId15"/>
    <p:sldId id="269" r:id="rId16"/>
    <p:sldId id="272" r:id="rId17"/>
    <p:sldId id="262" r:id="rId18"/>
    <p:sldId id="263" r:id="rId19"/>
    <p:sldId id="267" r:id="rId20"/>
    <p:sldId id="26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008" autoAdjust="0"/>
  </p:normalViewPr>
  <p:slideViewPr>
    <p:cSldViewPr snapToGrid="0" snapToObjects="1">
      <p:cViewPr varScale="1">
        <p:scale>
          <a:sx n="58" d="100"/>
          <a:sy n="58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56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Sou o Tomás Melo e vou apresentar o trabalho desenvolvido no estágio de verão no CEB. O LabHero já existia como protótipo académico; o meu objetivo foi expandi-lo em três frentes: conteúdo e progressão, profundidade da simulação metabólica e disponibilização web. Em vez de percorrer o relatório secção a secção, vou mostrar sobretudo a transformação entre o ponto de partida e o resultado final. [~35s]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 partida não era zero: o protótipo já tinha três missões, um simulador e compatibilidade web experimental. Também já expunha FBA, pFBA, lMOMA e ROOM. O problema era a escala e a experiência: pouco conteúdo, resultados difíceis de interpretar e uma versão web sem persistência real nem caminho de produção consolidado. A pergunta do estágio foi portanto como transformar isto num recurso utilizável de ponta a ponta. [~55s]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escala da transformação. As missões passaram de 3 para 40, com uma rota Easy de 11; os modelos passaram de um para dois; o backend cresceu de cerca de 100 para mais de 750 linhas; e foi criada uma suite de regressão distribuída por 110 ficheiros de teste. Importante: não apresento os quatro métodos como algo criado do zero — eles já apareciam na interface inicial. O trabalho foi integrá-los de forma robusta e pedagógica, com referências e diagnósticos claros. [~55s]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primeiro objetivo, a mudança é visível no próprio mapa. A campanha cresceu de 3 para 40 missões, organizada por laboratórios temáticos e com progressão por portas. Criei também uma rota Easy de 11 missões para sessões mais curtas, mantendo a numeração canónica. À volta da campanha surgiram sistemas de pontuação e chaves, Inventory, sete skins, Golden Lab, Golden Egg, Quest Tracker e um ecrã de resultados finais. O objetivo era que a progressão científica fosse também uma progressão de jogo. [~60s]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3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Notas 1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96905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24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Aqui mostro a transição para a fase final do jogo. Depois da Missão 35, na rota Normal, o jogador desbloqueia o Golden Lab, a skin Golden LabHero e o programa de levedura iMM904. Na rota Easy, o Golden Lab fica acessível após a Missão 27 para a campanha terminar em M36, mas a skin Golden LabHero mantém-se exclusiva da rota Normal. Além disso, o Golden Lab funciona como uma pequena hall of fame com homenagens a Isabel Rocha, Bernhard O. Palsson, Jens Nielsen, Chris Henry e Ahmad Zeidan.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r>
              <a:t>Aqui mantenho os menus de apoio ao jogador e acrescento uma imagem do Teacher Preview da Missão 40 porque ela mostra bem três interações pequenas mas úteis: coffee, lamp e apple. Estas interações alteram temporariamente a velocidade do jogador: coffee aumenta para 900 px/s, lamp reduz para 600 px/s e apple repõe a velocidade base de 750 px/s.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destaco os menus de apoio ao jogador. O Inventory reúne chaves, pontuação e skins; o Quest Tracker mostra a missão atual e o próximo passo; e o Final Results resume o desempenho no fim da campanha. Estes elementos tornam a campanha mais acompanhável, especialmente quando há muitas missões e pistas opcionais.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408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segundo objetivo foi tornar a modelação metabólica realmente parte da resolução das missões. O simulador de E. coli usa FBA, pFBA, lMOMA e ROOM; no ROOM a referência wild-type é pFBA, enquanto no lMOMA é obtida por FBA. O lMOMA é a formulação linear do MOMA: mantém o mesmo princípio de minimização do ajustamento metabólico, mas através de uma formulação algébrica distinta. Para ROOM foi implementada a formulação binária MILP e a resolução é feita com SciPy/HiGHS, sem afirmar que foi criado um solver novo. Além disso, adicionei o modelo de levedura iMM904 para as cinco missões finais e um Exchange Reaction Finder para pesquisar reações por ID ou nome sem escrever identificadores completos. Os desafios incluem condições ambientais, knockouts, GPR, desenho de estirpes com limite de knockouts e bound sweeps. [~70s]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comparação resume melhor o ganho pedagógico. Antes, uma execução devolvia essencialmente um valor. Agora o jogador recebe o objetivo primário, unidades explícitas e pode abrir um Simulation Summary, analisar fluxos de troca, acompanhar fluxos de produção, comparar execuções e consultar relatórios de bound sweep. As respostas das missões são validadas contra o estado real do simulador. Portanto, a mecânica passa a exigir um ciclo de hipótese, configuração, execução e interpretação. [~60s]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577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831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42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terceiro objetivo, parti de uma compatibilidade web experimental e fechei o caminho de utilização. O frontend continua em Python/Pygame, mas é compilado para WebAssembly com Pygbag. O backend, implementado como aplicação FastAPI servida por Uvicorn, passou a validar pedidos, suportar os dois modelos e isolar cada simulação. Adicionei persistência no browser com localStorage e autosave, e preparei deployment em contentores. Existe ainda um Teacher Preview autenticado e isolado do save do aluno, para o docente abrir diretamente qualquer missão. [~60s]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projeto cresceu bastante, a robustez tornou-se uma parte importante do estágio. O diretório code passou de 23 para 83 módulos, e a infraestrutura partilhada de 20 para 43. Criei uma suite de regressão distribuída por 110 ficheiros test_*.py, incluindo testes ao simulador de levedura, ao Exchange Finder e à edição de reações de troca, e um workflow de GitHub Actions que compila o código e executa essa suite. O processo por funcionalidade era iterativo: definir o conceito científico, implementar, testar manualmente, criar regressão e depois refatorar. [~60s]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552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resumo, os três objetivos foram cumpridos: uma campanha muito mais extensa e progressiva, desafios de modelação que obrigam a interpretar resultados reais, e uma versão web utilizável sem instalação. O que eu considero mais importante é que o crescimento em funcionalidades foi acompanhado por testes e por uma arquitetura que permite continuar a evoluir o projeto. Como trabalho futuro ficam a validação pedagógica formal, métricas para docentes, mais modelos e internacionalização. Obrigado. [~40s]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LabHero · Estágio de Verão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91540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CEB · Universidade do Minho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44200" y="45720"/>
            <a:ext cx="1188720" cy="118872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LabHero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8EDF7"/>
                </a:solidFill>
              </a:rPr>
              <a:t>De protótipo académico a campanha de 40 missões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8EDF7"/>
                </a:solidFill>
              </a:rPr>
              <a:t>com simulação metabólica e versão web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13232" y="3383280"/>
            <a:ext cx="1097280" cy="0"/>
          </a:xfrm>
          <a:prstGeom prst="line">
            <a:avLst/>
          </a:prstGeom>
          <a:noFill/>
          <a:ln w="508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</a:rPr>
              <a:t>Tomás Henrique Alves Melo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</a:rPr>
              <a:t>Estágio de Verão BRAIN@UM · CEB, Universidade do Minho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</a:rPr>
              <a:t>Sob orientação de Óscar Dias e Bruno Sá · Setembro de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51389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263756"/>
          </a:solidFill>
          <a:ln w="12700">
            <a:solidFill>
              <a:srgbClr val="2637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520750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40 missões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513892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63756"/>
          </a:solidFill>
          <a:ln w="12700">
            <a:solidFill>
              <a:srgbClr val="2637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157984" y="520750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 modelos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21024" y="5138928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263756"/>
          </a:solidFill>
          <a:ln w="12700">
            <a:solidFill>
              <a:srgbClr val="2637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94176" y="520750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110 ficheiros de teste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0096" y="513892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63756"/>
          </a:solidFill>
          <a:ln w="12700">
            <a:solidFill>
              <a:srgbClr val="2637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13248" y="520750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Web + Teacher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O ponto de partida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O protótipo já demonstrava a ideia — mas ainda não suportava uma utilização continuada.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4A62A"/>
                </a:solidFill>
              </a:rPr>
              <a:t>VERSÃO INICIAL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64008" cy="114300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3 missões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441448"/>
            <a:ext cx="2880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3 laboratórios e uma campanha ainda curta, sem progressão comparável à versão final.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8368" y="3218688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8368" y="3218688"/>
            <a:ext cx="64008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9536" y="33832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Simulação pouco interpretável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" y="3785616"/>
            <a:ext cx="2880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FBA, pFBA, lMOMA e ROOM já estavam expostos, mas o resultado visível era essencialmente escalar.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4562856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4562856"/>
            <a:ext cx="64008" cy="1143000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59536" y="47274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Web experimental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5129784"/>
            <a:ext cx="2880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Um modelo, backend ~100 linhas, estado web apenas em memória e sem deployment produtivo consolidado.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251960" y="2971800"/>
            <a:ext cx="685800" cy="1097280"/>
          </a:xfrm>
          <a:prstGeom prst="chevron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230368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Questão do estágio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30368" y="2578608"/>
            <a:ext cx="5806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</a:rPr>
              <a:t>Como transformar este protótipo num recurso mais completo, cientificamente interpretável e utilizável diretamente no browser?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30368" y="41605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Três objetivos: conteúdo &amp; narrativa · desafios de modelação · disponibilização web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A transformação em números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O resultado final não é “mais conteúdo” apenas — é uma mudança de escala em jogo, ciência e engenharia.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667085"/>
                </a:solidFill>
              </a:rPr>
              <a:t>MISSÕES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98A2B3"/>
                </a:solidFill>
              </a:rPr>
              <a:t>3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A62A"/>
                </a:solidFill>
              </a:rPr>
              <a:t>→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965960" y="2240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</a:rPr>
              <a:t>40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59536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+ rota Easy de 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691640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21024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667085"/>
                </a:solidFill>
              </a:rPr>
              <a:t>MODELOS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21024" y="2331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98A2B3"/>
                </a:solidFill>
              </a:rPr>
              <a:t>1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261104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A62A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764024" y="2240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E. coli core + iMM904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691640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19088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667085"/>
                </a:solidFill>
              </a:rPr>
              <a:t>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2331720"/>
            <a:ext cx="64008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8A2B3"/>
                </a:solidFill>
              </a:rPr>
              <a:t>100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7059168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A62A"/>
                </a:solidFill>
              </a:rPr>
              <a:t>→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562088" y="2240280"/>
            <a:ext cx="86868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</a:rPr>
              <a:t>750+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55664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linhas de código (~ → &gt;)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1691640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17152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10" dirty="0">
                <a:solidFill>
                  <a:srgbClr val="667085"/>
                </a:solidFill>
              </a:rPr>
              <a:t>TESTES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17152" y="2331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98A2B3"/>
                </a:solidFill>
              </a:rPr>
              <a:t>0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9857232" y="2423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A62A"/>
                </a:solidFill>
              </a:rPr>
              <a:t>→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10360152" y="2240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</a:rPr>
              <a:t>110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253728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ficheiros test_*.py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522039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E, sobretudo: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65960" y="5197114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039112" y="5265694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2 modos: Normal + Easy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33088" y="5197114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206240" y="526569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9A6700"/>
                </a:solidFill>
              </a:rPr>
              <a:t>6 </a:t>
            </a:r>
            <a:r>
              <a:rPr lang="en-US" sz="950" b="1" dirty="0" err="1" smtClean="0">
                <a:solidFill>
                  <a:srgbClr val="9A6700"/>
                </a:solidFill>
              </a:rPr>
              <a:t>novas</a:t>
            </a:r>
            <a:r>
              <a:rPr lang="en-US" sz="950" b="1" dirty="0" smtClean="0">
                <a:solidFill>
                  <a:srgbClr val="9A6700"/>
                </a:solidFill>
              </a:rPr>
              <a:t> skins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5197114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E7F6F2"/>
          </a:solidFill>
          <a:ln w="12700">
            <a:solidFill>
              <a:srgbClr val="E7F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28232" y="526569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8E7E"/>
                </a:solidFill>
              </a:rPr>
              <a:t>Teacher Preview autenticado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796528" y="5197114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E7F6F2"/>
          </a:solidFill>
          <a:ln w="12700">
            <a:solidFill>
              <a:srgbClr val="E7F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69680" y="5265694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8E7E"/>
                </a:solidFill>
              </a:rPr>
              <a:t>localStorage + autosave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3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Objetivo 1 — De 3 missões a uma campanha completa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expansão foi narrativa, espacial e mecânica — não apenas um aumento do número de missões.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67085"/>
                </a:solidFill>
              </a:rPr>
              <a:t>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62A"/>
                </a:solidFill>
              </a:rPr>
              <a:t>DEPOIS</a:t>
            </a:r>
            <a:endParaRPr lang="en-US" sz="1100" dirty="0"/>
          </a:p>
        </p:txBody>
      </p:sp>
      <p:pic>
        <p:nvPicPr>
          <p:cNvPr id="7" name="Image 0" descr="/mnt/data/lh_assets/p9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37360"/>
            <a:ext cx="4800600" cy="3246120"/>
          </a:xfrm>
          <a:prstGeom prst="rect">
            <a:avLst/>
          </a:prstGeom>
        </p:spPr>
      </p:pic>
      <p:pic>
        <p:nvPicPr>
          <p:cNvPr id="8" name="Image 1" descr="/mnt/data/lh_assets/p9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37360"/>
            <a:ext cx="5257800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32120" y="2816352"/>
            <a:ext cx="530352" cy="731520"/>
          </a:xfrm>
          <a:prstGeom prst="chevron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9808" y="5230368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22960" y="529894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Normal · 40 missões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14600" y="5230368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2587752" y="529894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Easy · 11 missões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279392" y="523036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4352544" y="529894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9A6700"/>
                </a:solidFill>
              </a:rPr>
              <a:t>Inventory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25312" y="523036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5998464" y="529894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6700"/>
                </a:solidFill>
              </a:rPr>
              <a:t>Golden Lab + Egg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781544" y="5230368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E7F6F2"/>
          </a:solidFill>
          <a:ln w="12700">
            <a:solidFill>
              <a:srgbClr val="E7F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7854696" y="529894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8E7E"/>
                </a:solidFill>
              </a:rPr>
              <a:t>Quest Tracker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9518904" y="5230368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E7F6F2"/>
          </a:solidFill>
          <a:ln w="12700">
            <a:solidFill>
              <a:srgbClr val="E7F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592056" y="52989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8E7E"/>
                </a:solidFill>
              </a:rPr>
              <a:t>Final Results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4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393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82C57"/>
                </a:solidFill>
              </a:rPr>
              <a:t>Fluxo de conclusão de uma missão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700">
                <a:solidFill>
                  <a:srgbClr val="556478"/>
                </a:solidFill>
                <a:latin typeface="Aptos"/>
              </a:rPr>
              <a:t>A Missão 01 ilustra o ciclo: interação, briefing, configuração, execução, leitura e entrega de resultados.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5245"/>
            <a:ext cx="658368" cy="4572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42310" y="1508760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73446b40-1513-5802-8e89-eba63496b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462" y="1581912"/>
            <a:ext cx="264795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88030" y="2779776"/>
            <a:ext cx="2702814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880" b="0">
                <a:solidFill>
                  <a:srgbClr val="556478"/>
                </a:solidFill>
                <a:latin typeface="Aptos"/>
              </a:rPr>
              <a:t>2. Briefing da missão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5436" y="1508760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9dffe5d4-dd01-5330-b78f-28c38f29da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588" y="1581912"/>
            <a:ext cx="264795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01156" y="2779776"/>
            <a:ext cx="2702814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880" b="0">
                <a:solidFill>
                  <a:srgbClr val="556478"/>
                </a:solidFill>
                <a:latin typeface="Aptos"/>
              </a:rPr>
              <a:t>3. Abrir o menu de simulação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8562" y="1508760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14282" y="2779776"/>
            <a:ext cx="2702814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880" b="0">
                <a:solidFill>
                  <a:srgbClr val="556478"/>
                </a:solidFill>
                <a:latin typeface="Aptos"/>
              </a:rPr>
              <a:t>4. Correr a baseline aeróbia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3456432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4" y="4727448"/>
            <a:ext cx="2702814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880" b="0">
                <a:solidFill>
                  <a:srgbClr val="556478"/>
                </a:solidFill>
                <a:latin typeface="Aptos"/>
              </a:rPr>
              <a:t>5. Configurar o ambiente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2310" y="3456432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88030" y="4727448"/>
            <a:ext cx="2702814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r>
              <a:rPr sz="1000">
                <a:solidFill>
                  <a:srgbClr val="20365A"/>
                </a:solidFill>
                <a:latin typeface="Aptos"/>
              </a:rPr>
              <a:t>6. Correr a condição anaeróbia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5436" y="3456432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1156" y="4727448"/>
            <a:ext cx="2702814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0">
                <a:solidFill>
                  <a:srgbClr val="20365A"/>
                </a:solidFill>
                <a:latin typeface="Aptos"/>
              </a:rPr>
              <a:t>7. Interpretar o relatório da missão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522976"/>
            <a:ext cx="10149840" cy="310896"/>
          </a:xfrm>
          <a:prstGeom prst="roundRect">
            <a:avLst/>
          </a:prstGeom>
          <a:solidFill>
            <a:srgbClr val="1F375A"/>
          </a:solidFill>
          <a:ln w="10160">
            <a:solidFill>
              <a:srgbClr val="1F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NPC → briefing → simulador → baseline aeróbia → ambiente → anaeróbia → relatório da missão → entrega da missão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" y="1508760"/>
            <a:ext cx="279425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M1_DO_FLUX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91" y="1581912"/>
            <a:ext cx="2029239" cy="1143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74904" y="2779776"/>
            <a:ext cx="2702814" cy="256032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sz="880" b="0">
                <a:solidFill>
                  <a:srgbClr val="556478"/>
                </a:solidFill>
                <a:latin typeface="Aptos"/>
              </a:rPr>
              <a:t>1. Falar com o NPC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5462" y="3529584"/>
            <a:ext cx="2647950" cy="11430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8588" y="3529584"/>
            <a:ext cx="2647950" cy="1143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1714" y="1581912"/>
            <a:ext cx="2647950" cy="11430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3529584"/>
            <a:ext cx="2647950" cy="11430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070848" y="3456432"/>
            <a:ext cx="2798064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529584"/>
            <a:ext cx="2651760" cy="1143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16568" y="4727448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2637F"/>
                </a:solidFill>
                <a:latin typeface="Aptos"/>
              </a:rPr>
              <a:t>8. Entrega da missão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2800" b="1">
                <a:solidFill>
                  <a:srgbClr val="1F376C"/>
                </a:solidFill>
              </a:rPr>
              <a:t>Golden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384048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700" b="0">
                <a:solidFill>
                  <a:srgbClr val="566580"/>
                </a:solidFill>
              </a:rPr>
              <a:t>A fase final introduz a levedura iMM904 e desbloqueia uma nova área, novo programa e uma skin exclusiva.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658368" cy="36576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4983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12848"/>
            <a:ext cx="4617720" cy="2596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5687568"/>
            <a:ext cx="4526280" cy="326243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/>
            <a:r>
              <a:rPr sz="1400" b="0" dirty="0">
                <a:solidFill>
                  <a:srgbClr val="566580"/>
                </a:solidFill>
              </a:rPr>
              <a:t>Golden Lab: </a:t>
            </a:r>
            <a:r>
              <a:rPr sz="1400" b="0" dirty="0" err="1">
                <a:solidFill>
                  <a:srgbClr val="566580"/>
                </a:solidFill>
              </a:rPr>
              <a:t>área</a:t>
            </a:r>
            <a:r>
              <a:rPr sz="1400" b="0" dirty="0">
                <a:solidFill>
                  <a:srgbClr val="566580"/>
                </a:solidFill>
              </a:rPr>
              <a:t> </a:t>
            </a:r>
            <a:r>
              <a:rPr lang="pt-PT" sz="1400" b="0" dirty="0" smtClean="0">
                <a:solidFill>
                  <a:srgbClr val="566580"/>
                </a:solidFill>
              </a:rPr>
              <a:t>introdutória ao </a:t>
            </a:r>
            <a:r>
              <a:rPr sz="1400" b="0" dirty="0" err="1" smtClean="0">
                <a:solidFill>
                  <a:srgbClr val="566580"/>
                </a:solidFill>
              </a:rPr>
              <a:t>programa</a:t>
            </a:r>
            <a:r>
              <a:rPr sz="1400" b="0" dirty="0" smtClean="0">
                <a:solidFill>
                  <a:srgbClr val="566580"/>
                </a:solidFill>
              </a:rPr>
              <a:t> </a:t>
            </a:r>
            <a:r>
              <a:rPr sz="1400" b="0" dirty="0">
                <a:solidFill>
                  <a:srgbClr val="566580"/>
                </a:solidFill>
              </a:rPr>
              <a:t>de </a:t>
            </a:r>
            <a:r>
              <a:rPr sz="1400" b="0" dirty="0" err="1">
                <a:solidFill>
                  <a:srgbClr val="566580"/>
                </a:solidFill>
              </a:rPr>
              <a:t>levedura</a:t>
            </a:r>
            <a:r>
              <a:rPr sz="1400" b="0" dirty="0">
                <a:solidFill>
                  <a:srgbClr val="566580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965960"/>
            <a:ext cx="4892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2240280"/>
            <a:ext cx="438912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2000" b="1">
                <a:solidFill>
                  <a:srgbClr val="1F376C"/>
                </a:solidFill>
              </a:rPr>
              <a:t>Desbloqueio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4187952"/>
            <a:ext cx="4596938" cy="23895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203" y="4285586"/>
            <a:ext cx="3909427" cy="22066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78752" y="5672404"/>
            <a:ext cx="4256932" cy="23391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400" b="0" dirty="0">
                <a:solidFill>
                  <a:srgbClr val="1F376C"/>
                </a:solidFill>
                <a:latin typeface="Aptos"/>
              </a:rPr>
              <a:t>Golden </a:t>
            </a:r>
            <a:r>
              <a:rPr sz="1400" b="0" dirty="0" err="1">
                <a:solidFill>
                  <a:srgbClr val="1F376C"/>
                </a:solidFill>
                <a:latin typeface="Aptos"/>
              </a:rPr>
              <a:t>LabHero</a:t>
            </a:r>
            <a:endParaRPr sz="1400" b="0" dirty="0">
              <a:solidFill>
                <a:srgbClr val="1F376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14496" y="5895013"/>
            <a:ext cx="4256932" cy="18774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100" b="0" dirty="0">
                <a:solidFill>
                  <a:srgbClr val="566580"/>
                </a:solidFill>
                <a:latin typeface="Aptos"/>
              </a:rPr>
              <a:t>Skin </a:t>
            </a:r>
            <a:r>
              <a:rPr sz="1100" b="0" dirty="0" err="1">
                <a:solidFill>
                  <a:srgbClr val="566580"/>
                </a:solidFill>
                <a:latin typeface="Aptos"/>
              </a:rPr>
              <a:t>exclusiva</a:t>
            </a:r>
            <a:endParaRPr sz="1100" b="0" dirty="0">
              <a:solidFill>
                <a:srgbClr val="56658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97880" y="2633472"/>
            <a:ext cx="4665573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dirty="0">
                <a:solidFill>
                  <a:srgbClr val="46556E"/>
                </a:solidFill>
              </a:rPr>
              <a:t>• Normal: </a:t>
            </a:r>
            <a:r>
              <a:rPr sz="1320" dirty="0" err="1">
                <a:solidFill>
                  <a:srgbClr val="46556E"/>
                </a:solidFill>
              </a:rPr>
              <a:t>concluir</a:t>
            </a:r>
            <a:r>
              <a:rPr sz="1320" dirty="0">
                <a:solidFill>
                  <a:srgbClr val="46556E"/>
                </a:solidFill>
              </a:rPr>
              <a:t> a M35 </a:t>
            </a:r>
            <a:r>
              <a:rPr sz="1320" dirty="0" err="1">
                <a:solidFill>
                  <a:srgbClr val="46556E"/>
                </a:solidFill>
              </a:rPr>
              <a:t>desbloqueia</a:t>
            </a:r>
            <a:r>
              <a:rPr sz="1320" dirty="0">
                <a:solidFill>
                  <a:srgbClr val="46556E"/>
                </a:solidFill>
              </a:rPr>
              <a:t> o Golden Lab, </a:t>
            </a:r>
            <a:r>
              <a:rPr sz="1320" dirty="0" smtClean="0">
                <a:solidFill>
                  <a:srgbClr val="46556E"/>
                </a:solidFill>
              </a:rPr>
              <a:t>o</a:t>
            </a:r>
            <a:endParaRPr lang="pt-PT" sz="1320" dirty="0" smtClean="0">
              <a:solidFill>
                <a:srgbClr val="46556E"/>
              </a:solidFill>
            </a:endParaRPr>
          </a:p>
          <a:p>
            <a:r>
              <a:rPr sz="1320" dirty="0" err="1" smtClean="0">
                <a:solidFill>
                  <a:srgbClr val="46556E"/>
                </a:solidFill>
              </a:rPr>
              <a:t>programa</a:t>
            </a:r>
            <a:r>
              <a:rPr sz="1320" dirty="0" smtClean="0">
                <a:solidFill>
                  <a:srgbClr val="46556E"/>
                </a:solidFill>
              </a:rPr>
              <a:t> de</a:t>
            </a:r>
            <a:r>
              <a:rPr lang="pt-PT" sz="1320" dirty="0">
                <a:solidFill>
                  <a:srgbClr val="46556E"/>
                </a:solidFill>
              </a:rPr>
              <a:t> </a:t>
            </a:r>
            <a:r>
              <a:rPr sz="1320" dirty="0" err="1" smtClean="0">
                <a:solidFill>
                  <a:srgbClr val="46556E"/>
                </a:solidFill>
              </a:rPr>
              <a:t>levedura</a:t>
            </a:r>
            <a:r>
              <a:rPr sz="1320" dirty="0" smtClean="0">
                <a:solidFill>
                  <a:srgbClr val="46556E"/>
                </a:solidFill>
              </a:rPr>
              <a:t> </a:t>
            </a:r>
            <a:r>
              <a:rPr sz="1320" dirty="0">
                <a:solidFill>
                  <a:srgbClr val="46556E"/>
                </a:solidFill>
              </a:rPr>
              <a:t>e a skin Golden </a:t>
            </a:r>
            <a:r>
              <a:rPr sz="1320" dirty="0" err="1">
                <a:solidFill>
                  <a:srgbClr val="46556E"/>
                </a:solidFill>
              </a:rPr>
              <a:t>LabHero</a:t>
            </a:r>
            <a:r>
              <a:rPr sz="1320" dirty="0">
                <a:solidFill>
                  <a:srgbClr val="46556E"/>
                </a:solidFill>
              </a:rPr>
              <a:t>.</a:t>
            </a:r>
          </a:p>
          <a:p>
            <a:r>
              <a:rPr sz="1320" dirty="0">
                <a:solidFill>
                  <a:srgbClr val="46556E"/>
                </a:solidFill>
              </a:rPr>
              <a:t>• Easy: a skin Golden </a:t>
            </a:r>
            <a:r>
              <a:rPr sz="1320" dirty="0" err="1">
                <a:solidFill>
                  <a:srgbClr val="46556E"/>
                </a:solidFill>
              </a:rPr>
              <a:t>LabHero</a:t>
            </a:r>
            <a:r>
              <a:rPr sz="1320" dirty="0">
                <a:solidFill>
                  <a:srgbClr val="46556E"/>
                </a:solidFill>
              </a:rPr>
              <a:t> </a:t>
            </a:r>
            <a:r>
              <a:rPr sz="1320" dirty="0" err="1">
                <a:solidFill>
                  <a:srgbClr val="46556E"/>
                </a:solidFill>
              </a:rPr>
              <a:t>não</a:t>
            </a:r>
            <a:r>
              <a:rPr sz="1320" dirty="0">
                <a:solidFill>
                  <a:srgbClr val="46556E"/>
                </a:solidFill>
              </a:rPr>
              <a:t> é </a:t>
            </a:r>
            <a:r>
              <a:rPr sz="1320" dirty="0" err="1">
                <a:solidFill>
                  <a:srgbClr val="46556E"/>
                </a:solidFill>
              </a:rPr>
              <a:t>desbloqueada</a:t>
            </a:r>
            <a:r>
              <a:rPr sz="1320" dirty="0">
                <a:solidFill>
                  <a:srgbClr val="46556E"/>
                </a:solidFill>
              </a:rPr>
              <a:t>.</a:t>
            </a:r>
          </a:p>
          <a:p>
            <a:r>
              <a:rPr sz="1320" dirty="0">
                <a:solidFill>
                  <a:srgbClr val="46556E"/>
                </a:solidFill>
              </a:rPr>
              <a:t>• A nova </a:t>
            </a:r>
            <a:r>
              <a:rPr sz="1320" dirty="0" err="1">
                <a:solidFill>
                  <a:srgbClr val="46556E"/>
                </a:solidFill>
              </a:rPr>
              <a:t>fase</a:t>
            </a:r>
            <a:r>
              <a:rPr sz="1320" dirty="0">
                <a:solidFill>
                  <a:srgbClr val="46556E"/>
                </a:solidFill>
              </a:rPr>
              <a:t> </a:t>
            </a:r>
            <a:r>
              <a:rPr sz="1320" dirty="0" err="1">
                <a:solidFill>
                  <a:srgbClr val="46556E"/>
                </a:solidFill>
              </a:rPr>
              <a:t>muda</a:t>
            </a:r>
            <a:r>
              <a:rPr sz="1320" dirty="0">
                <a:solidFill>
                  <a:srgbClr val="46556E"/>
                </a:solidFill>
              </a:rPr>
              <a:t> o </a:t>
            </a:r>
            <a:r>
              <a:rPr sz="1320" dirty="0" err="1">
                <a:solidFill>
                  <a:srgbClr val="46556E"/>
                </a:solidFill>
              </a:rPr>
              <a:t>foco</a:t>
            </a:r>
            <a:r>
              <a:rPr sz="1320" dirty="0">
                <a:solidFill>
                  <a:srgbClr val="46556E"/>
                </a:solidFill>
              </a:rPr>
              <a:t> de E. coli para </a:t>
            </a:r>
            <a:r>
              <a:rPr sz="1320" dirty="0" err="1">
                <a:solidFill>
                  <a:srgbClr val="46556E"/>
                </a:solidFill>
              </a:rPr>
              <a:t>levedura</a:t>
            </a:r>
            <a:r>
              <a:rPr sz="1320" dirty="0">
                <a:solidFill>
                  <a:srgbClr val="46556E"/>
                </a:solidFill>
              </a:rPr>
              <a:t> iMM904.</a:t>
            </a:r>
          </a:p>
          <a:p>
            <a:r>
              <a:rPr sz="1320" dirty="0">
                <a:solidFill>
                  <a:srgbClr val="46556E"/>
                </a:solidFill>
              </a:rPr>
              <a:t>• </a:t>
            </a:r>
            <a:r>
              <a:rPr sz="1320" dirty="0" err="1">
                <a:solidFill>
                  <a:srgbClr val="46556E"/>
                </a:solidFill>
              </a:rPr>
              <a:t>Funciona</a:t>
            </a:r>
            <a:r>
              <a:rPr sz="1320" dirty="0">
                <a:solidFill>
                  <a:srgbClr val="46556E"/>
                </a:solidFill>
              </a:rPr>
              <a:t> </a:t>
            </a:r>
            <a:r>
              <a:rPr sz="1320" dirty="0" err="1">
                <a:solidFill>
                  <a:srgbClr val="46556E"/>
                </a:solidFill>
              </a:rPr>
              <a:t>como</a:t>
            </a:r>
            <a:r>
              <a:rPr sz="1320" dirty="0">
                <a:solidFill>
                  <a:srgbClr val="46556E"/>
                </a:solidFill>
              </a:rPr>
              <a:t> </a:t>
            </a:r>
            <a:r>
              <a:rPr sz="1320" dirty="0" err="1">
                <a:solidFill>
                  <a:srgbClr val="46556E"/>
                </a:solidFill>
              </a:rPr>
              <a:t>transição</a:t>
            </a:r>
            <a:r>
              <a:rPr sz="1320" dirty="0">
                <a:solidFill>
                  <a:srgbClr val="46556E"/>
                </a:solidFill>
              </a:rPr>
              <a:t> para a parte final da </a:t>
            </a:r>
            <a:r>
              <a:rPr sz="1320" dirty="0" err="1">
                <a:solidFill>
                  <a:srgbClr val="46556E"/>
                </a:solidFill>
              </a:rPr>
              <a:t>campanha</a:t>
            </a:r>
            <a:r>
              <a:rPr sz="1320" dirty="0">
                <a:solidFill>
                  <a:srgbClr val="46556E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9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E9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2377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757E8D"/>
                </a:solidFill>
              </a:rPr>
              <a:t>LabHero · Estágio de Verão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601968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57E8D"/>
                </a:solidFill>
              </a:rPr>
              <a:t>CEB · Universidade do Minho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6C"/>
                </a:solidFill>
              </a:rPr>
              <a:t>Cientistas homenageados no Golden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566580"/>
                </a:solidFill>
              </a:rPr>
              <a:t>O Golden Lab presta homenagem a referências de systems biology e metabolic engineering.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658368" cy="38100"/>
          </a:xfrm>
          <a:prstGeom prst="rect">
            <a:avLst/>
          </a:prstGeom>
          <a:solidFill>
            <a:srgbClr val="E9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881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104241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6556E"/>
                </a:solidFill>
              </a:rPr>
              <a:t>Isabel Rocha — OptFlux e desenho de estirpes</a:t>
            </a:r>
          </a:p>
          <a:p>
            <a:r>
              <a:rPr sz="1500">
                <a:solidFill>
                  <a:srgbClr val="46556E"/>
                </a:solidFill>
              </a:rPr>
              <a:t>Bernhard O. Palsson — COBRA e análise baseada em restrições</a:t>
            </a:r>
          </a:p>
          <a:p>
            <a:r>
              <a:rPr sz="1500">
                <a:solidFill>
                  <a:srgbClr val="46556E"/>
                </a:solidFill>
              </a:rPr>
              <a:t>Jens Nielsen — levedura, systems biology e metabolic engineering</a:t>
            </a:r>
          </a:p>
          <a:p>
            <a:r>
              <a:rPr sz="1500">
                <a:solidFill>
                  <a:srgbClr val="46556E"/>
                </a:solidFill>
              </a:rPr>
              <a:t>Chris Henry — ModelSEED / KBase e reconstrução de modelos</a:t>
            </a:r>
          </a:p>
          <a:p>
            <a:r>
              <a:rPr sz="1500">
                <a:solidFill>
                  <a:srgbClr val="46556E"/>
                </a:solidFill>
              </a:rPr>
              <a:t>Ahmad Zeidan — biotecnologia industrial e alimentar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56432"/>
            <a:ext cx="4572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621024"/>
            <a:ext cx="4279392" cy="1810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8408" y="5486400"/>
            <a:ext cx="43525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376C"/>
                </a:solidFill>
              </a:rPr>
              <a:t>Bernhard O. Palsson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715000"/>
            <a:ext cx="43525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66580"/>
                </a:solidFill>
              </a:rPr>
              <a:t>COBRA e genome-scale reconstruction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456432"/>
            <a:ext cx="4572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3621024"/>
            <a:ext cx="4279392" cy="1810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9048" y="5486400"/>
            <a:ext cx="43525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376C"/>
                </a:solidFill>
              </a:rPr>
              <a:t>Ahmad Zeidan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5715000"/>
            <a:ext cx="43525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66580"/>
                </a:solidFill>
              </a:rPr>
              <a:t>Modelos à escala genómica e biotecnologia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607040" cy="713232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2800" b="1">
                <a:solidFill>
                  <a:srgbClr val="182B4E"/>
                </a:solidFill>
              </a:rPr>
              <a:t>Golden Egg: exploração opcional e recompensa escondida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0607040" cy="347472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600" b="0">
                <a:solidFill>
                  <a:srgbClr val="606B7E"/>
                </a:solidFill>
              </a:rPr>
              <a:t>Foi acrescentado um easter egg que recompensa a exploração do mapa sem interferir com a progressão principal.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95552"/>
            <a:ext cx="658368" cy="36576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525780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21" y="1810512"/>
            <a:ext cx="3165613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3657600"/>
            <a:ext cx="4754880" cy="237744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/>
            <a:r>
              <a:rPr sz="1300" b="0">
                <a:solidFill>
                  <a:srgbClr val="606B7E"/>
                </a:solidFill>
              </a:rPr>
              <a:t>Golden Egg escondido numa zona opcional do mapa.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96512"/>
            <a:ext cx="525780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027" y="4187952"/>
            <a:ext cx="1915601" cy="1078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5276088"/>
            <a:ext cx="4754880" cy="201168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/>
            <a:r>
              <a:rPr sz="1200" b="0">
                <a:solidFill>
                  <a:srgbClr val="606B7E"/>
                </a:solidFill>
              </a:rPr>
              <a:t>Interação com a personagem “???” ligada ao easter egg.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719072"/>
            <a:ext cx="4663440" cy="3803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847088"/>
            <a:ext cx="4389120" cy="310896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900" b="1">
                <a:solidFill>
                  <a:srgbClr val="182B4E"/>
                </a:solidFill>
              </a:rPr>
              <a:t>Como funciona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157984"/>
            <a:ext cx="4343400" cy="1965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222A36"/>
                </a:solidFill>
              </a:rPr>
              <a:t>• É uma recompensa de exploração: não é necessária para completar a campanha.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222A36"/>
                </a:solidFill>
              </a:rPr>
              <a:t>• Se for encontrado antes do fim da campanha, dá chaves extra úteis para pistas.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222A36"/>
                </a:solidFill>
              </a:rPr>
              <a:t>• A recompensa é persistente e só pode ser obtida uma vez.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222A36"/>
                </a:solidFill>
              </a:rPr>
              <a:t>• Se o jogador o descobrir apenas depois de terminar a campanha, já não recebe a recompensa.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222A36"/>
                </a:solidFill>
              </a:rPr>
              <a:t>• O diálogo com “???” acrescenta um pequeno momento narrativo e reforça a ideia de descoberta.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572000"/>
            <a:ext cx="1874519" cy="347472"/>
          </a:xfrm>
          <a:prstGeom prst="roundRect">
            <a:avLst/>
          </a:prstGeom>
          <a:solidFill>
            <a:srgbClr val="208D91"/>
          </a:solidFill>
          <a:ln>
            <a:solidFill>
              <a:srgbClr val="208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Normal: +3 Gold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572000"/>
            <a:ext cx="1783080" cy="347472"/>
          </a:xfrm>
          <a:prstGeom prst="roundRect">
            <a:avLst/>
          </a:prstGeom>
          <a:solidFill>
            <a:srgbClr val="ECA525"/>
          </a:solidFill>
          <a:ln>
            <a:solidFill>
              <a:srgbClr val="ECA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Easy: +1 Gold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974336"/>
            <a:ext cx="3840480" cy="2743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200" b="0">
                <a:solidFill>
                  <a:srgbClr val="606B7E"/>
                </a:solidFill>
              </a:rPr>
              <a:t>Só conta se o Golden Egg for encontrado antes da campanha terminar.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82C57"/>
                </a:solidFill>
              </a:rPr>
              <a:t>Robustez das missões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626E84"/>
                </a:solidFill>
              </a:rPr>
              <a:t>A validação deixou de depender de respostas hardcoded e passou a usar o estado real do simulador.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49587"/>
            <a:ext cx="658368" cy="4445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4023360" cy="434340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92808"/>
            <a:ext cx="3694176" cy="384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1800" b="1">
                <a:solidFill>
                  <a:srgbClr val="182C57"/>
                </a:solidFill>
              </a:rPr>
              <a:t>O que mudou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694176" cy="3611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D3444"/>
                </a:solidFill>
              </a:defRPr>
            </a:pPr>
            <a:r>
              <a:t>A missão verifica diretamente objetivo, ambiente, knockouts e resultados da simulação.</a:t>
            </a:r>
          </a:p>
          <a:p>
            <a:pPr>
              <a:spcAft>
                <a:spcPts val="600"/>
              </a:spcAft>
              <a:defRPr sz="1550">
                <a:solidFill>
                  <a:srgbClr val="2D3444"/>
                </a:solidFill>
              </a:defRPr>
            </a:pPr>
            <a:r>
              <a:t>Desafios de desenho de estirpe podem aceitar diferentes respostas válidas, desde que cumpram os critérios científicos.</a:t>
            </a:r>
          </a:p>
          <a:p>
            <a:pPr>
              <a:spcAft>
                <a:spcPts val="600"/>
              </a:spcAft>
              <a:defRPr sz="1550">
                <a:solidFill>
                  <a:srgbClr val="2D3444"/>
                </a:solidFill>
              </a:defRPr>
            </a:pPr>
            <a:r>
              <a:t>Cada missão começa com 5 pontos base; com pistas, a pontuação desce para 3 / 2 / 1.</a:t>
            </a:r>
          </a:p>
          <a:p>
            <a:pPr>
              <a:spcAft>
                <a:spcPts val="600"/>
              </a:spcAft>
              <a:defRPr sz="1550">
                <a:solidFill>
                  <a:srgbClr val="2D3444"/>
                </a:solidFill>
              </a:defRPr>
            </a:pPr>
            <a:r>
              <a:t>Cada submissão final errada aplica uma penalização adicional de 1 ponto.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812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73" y="1856232"/>
            <a:ext cx="4861734" cy="2715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3752" y="4645152"/>
            <a:ext cx="6665976" cy="3657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600" b="0">
                <a:solidFill>
                  <a:srgbClr val="626E84"/>
                </a:solidFill>
              </a:rPr>
              <a:t>Sistema de pistas por níveis (Bronze / Prata / Ouro)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5285232"/>
            <a:ext cx="6629400" cy="65836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28616" y="5303520"/>
            <a:ext cx="6556248" cy="62179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700" b="1">
                <a:solidFill>
                  <a:srgbClr val="182C57"/>
                </a:solidFill>
              </a:rPr>
              <a:t>Ideia pedagógica: o jogador configura, executa, interpreta e só depois conclui.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82C57"/>
                </a:solidFill>
              </a:rPr>
              <a:t>Apoio ao jogador e experiência de campanha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626E84"/>
                </a:solidFill>
              </a:rPr>
              <a:t>Para além da progressão científica, o jogo passou a oferecer acompanhamento, feedback e pequenos elementos de polimento.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99212"/>
            <a:ext cx="658368" cy="4445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775597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r>
              <a:rPr sz="1800" dirty="0">
                <a:solidFill>
                  <a:srgbClr val="37485F"/>
                </a:solidFill>
                <a:latin typeface="Aptos"/>
              </a:rPr>
              <a:t>Inventory, Quest Tracker e Final Results </a:t>
            </a:r>
            <a:r>
              <a:rPr sz="1800" dirty="0" err="1">
                <a:solidFill>
                  <a:srgbClr val="37485F"/>
                </a:solidFill>
                <a:latin typeface="Aptos"/>
              </a:rPr>
              <a:t>ajudam</a:t>
            </a:r>
            <a:r>
              <a:rPr sz="1800" dirty="0">
                <a:solidFill>
                  <a:srgbClr val="37485F"/>
                </a:solidFill>
                <a:latin typeface="Aptos"/>
              </a:rPr>
              <a:t> o </a:t>
            </a:r>
            <a:r>
              <a:rPr sz="1800" dirty="0" err="1">
                <a:solidFill>
                  <a:srgbClr val="37485F"/>
                </a:solidFill>
                <a:latin typeface="Aptos"/>
              </a:rPr>
              <a:t>jogador</a:t>
            </a:r>
            <a:r>
              <a:rPr sz="1800" dirty="0">
                <a:solidFill>
                  <a:srgbClr val="37485F"/>
                </a:solidFill>
                <a:latin typeface="Aptos"/>
              </a:rPr>
              <a:t> a </a:t>
            </a:r>
            <a:r>
              <a:rPr sz="1800" dirty="0" err="1" smtClean="0">
                <a:solidFill>
                  <a:srgbClr val="37485F"/>
                </a:solidFill>
                <a:latin typeface="Aptos"/>
              </a:rPr>
              <a:t>consultar</a:t>
            </a:r>
            <a:r>
              <a:rPr sz="1800" dirty="0" smtClean="0">
                <a:solidFill>
                  <a:srgbClr val="37485F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37485F"/>
                </a:solidFill>
                <a:latin typeface="Aptos"/>
              </a:rPr>
              <a:t>chaves</a:t>
            </a:r>
            <a:r>
              <a:rPr sz="1800" dirty="0">
                <a:solidFill>
                  <a:srgbClr val="37485F"/>
                </a:solidFill>
                <a:latin typeface="Aptos"/>
              </a:rPr>
              <a:t>, trocar </a:t>
            </a:r>
            <a:r>
              <a:rPr sz="1800" dirty="0" smtClean="0">
                <a:solidFill>
                  <a:srgbClr val="37485F"/>
                </a:solidFill>
                <a:latin typeface="Aptos"/>
              </a:rPr>
              <a:t>skins</a:t>
            </a:r>
            <a:r>
              <a:rPr lang="pt-PT" sz="1800" dirty="0" smtClean="0">
                <a:solidFill>
                  <a:srgbClr val="37485F"/>
                </a:solidFill>
                <a:latin typeface="Aptos"/>
              </a:rPr>
              <a:t>,</a:t>
            </a:r>
            <a:r>
              <a:rPr sz="1800" dirty="0" smtClean="0">
                <a:solidFill>
                  <a:srgbClr val="37485F"/>
                </a:solidFill>
                <a:latin typeface="Aptos"/>
              </a:rPr>
              <a:t> </a:t>
            </a:r>
            <a:r>
              <a:rPr lang="pt-PT" dirty="0">
                <a:solidFill>
                  <a:srgbClr val="37485F"/>
                </a:solidFill>
              </a:rPr>
              <a:t>acompanhar a </a:t>
            </a:r>
            <a:r>
              <a:rPr lang="pt-PT" dirty="0" smtClean="0">
                <a:solidFill>
                  <a:srgbClr val="37485F"/>
                </a:solidFill>
              </a:rPr>
              <a:t>campanha </a:t>
            </a:r>
            <a:r>
              <a:rPr sz="1800" dirty="0" smtClean="0">
                <a:solidFill>
                  <a:srgbClr val="37485F"/>
                </a:solidFill>
                <a:latin typeface="Aptos"/>
              </a:rPr>
              <a:t>e </a:t>
            </a:r>
            <a:r>
              <a:rPr sz="1800" dirty="0" err="1">
                <a:solidFill>
                  <a:srgbClr val="37485F"/>
                </a:solidFill>
                <a:latin typeface="Aptos"/>
              </a:rPr>
              <a:t>rever</a:t>
            </a:r>
            <a:r>
              <a:rPr sz="1800" dirty="0">
                <a:solidFill>
                  <a:srgbClr val="37485F"/>
                </a:solidFill>
                <a:latin typeface="Aptos"/>
              </a:rPr>
              <a:t> o </a:t>
            </a:r>
            <a:r>
              <a:rPr sz="1800" dirty="0" err="1">
                <a:solidFill>
                  <a:srgbClr val="37485F"/>
                </a:solidFill>
                <a:latin typeface="Aptos"/>
              </a:rPr>
              <a:t>desempenho</a:t>
            </a:r>
            <a:r>
              <a:rPr sz="1800" dirty="0">
                <a:solidFill>
                  <a:srgbClr val="37485F"/>
                </a:solidFill>
                <a:latin typeface="Aptos"/>
              </a:rPr>
              <a:t> no </a:t>
            </a:r>
            <a:r>
              <a:rPr sz="1800" dirty="0" err="1">
                <a:solidFill>
                  <a:srgbClr val="37485F"/>
                </a:solidFill>
                <a:latin typeface="Aptos"/>
              </a:rPr>
              <a:t>fim</a:t>
            </a:r>
            <a:r>
              <a:rPr sz="1800" dirty="0">
                <a:solidFill>
                  <a:srgbClr val="37485F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81095"/>
            <a:ext cx="3520440" cy="3354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4247"/>
            <a:ext cx="3374136" cy="18847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091545"/>
            <a:ext cx="3374136" cy="39319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500" b="0" dirty="0">
                <a:solidFill>
                  <a:srgbClr val="626E84"/>
                </a:solidFill>
              </a:rPr>
              <a:t>Inventory: </a:t>
            </a:r>
            <a:r>
              <a:rPr sz="1500" b="0" dirty="0" err="1">
                <a:solidFill>
                  <a:srgbClr val="626E84"/>
                </a:solidFill>
              </a:rPr>
              <a:t>chaves</a:t>
            </a:r>
            <a:r>
              <a:rPr sz="1500" b="0" dirty="0">
                <a:solidFill>
                  <a:srgbClr val="626E84"/>
                </a:solidFill>
              </a:rPr>
              <a:t>, score e skins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81095"/>
            <a:ext cx="3520440" cy="3354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654247"/>
            <a:ext cx="3374136" cy="18847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16552" y="5091545"/>
            <a:ext cx="3374136" cy="39319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500" b="0" dirty="0">
                <a:solidFill>
                  <a:srgbClr val="626E84"/>
                </a:solidFill>
              </a:rPr>
              <a:t>Quest Tracker: </a:t>
            </a:r>
            <a:r>
              <a:rPr sz="1500" b="0" dirty="0" err="1">
                <a:solidFill>
                  <a:srgbClr val="626E84"/>
                </a:solidFill>
              </a:rPr>
              <a:t>missão</a:t>
            </a:r>
            <a:r>
              <a:rPr sz="1500" b="0" dirty="0">
                <a:solidFill>
                  <a:srgbClr val="626E84"/>
                </a:solidFill>
              </a:rPr>
              <a:t> </a:t>
            </a:r>
            <a:r>
              <a:rPr sz="1500" b="0" dirty="0" err="1">
                <a:solidFill>
                  <a:srgbClr val="626E84"/>
                </a:solidFill>
              </a:rPr>
              <a:t>atual</a:t>
            </a:r>
            <a:r>
              <a:rPr sz="1500" b="0" dirty="0">
                <a:solidFill>
                  <a:srgbClr val="626E84"/>
                </a:solidFill>
              </a:rPr>
              <a:t> e </a:t>
            </a:r>
            <a:r>
              <a:rPr sz="1500" b="0" dirty="0" err="1">
                <a:solidFill>
                  <a:srgbClr val="626E84"/>
                </a:solidFill>
              </a:rPr>
              <a:t>próximo</a:t>
            </a:r>
            <a:r>
              <a:rPr sz="1500" b="0" dirty="0">
                <a:solidFill>
                  <a:srgbClr val="626E84"/>
                </a:solidFill>
              </a:rPr>
              <a:t> </a:t>
            </a:r>
            <a:r>
              <a:rPr sz="1500" b="0" dirty="0" err="1">
                <a:solidFill>
                  <a:srgbClr val="626E84"/>
                </a:solidFill>
              </a:rPr>
              <a:t>passo</a:t>
            </a:r>
            <a:endParaRPr sz="1500" b="0" dirty="0">
              <a:solidFill>
                <a:srgbClr val="626E84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28431" y="2581094"/>
            <a:ext cx="3520440" cy="33541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3" y="2654247"/>
            <a:ext cx="3374136" cy="18677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01583" y="5108168"/>
            <a:ext cx="3374136" cy="39319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500" b="0" dirty="0">
                <a:solidFill>
                  <a:srgbClr val="626E84"/>
                </a:solidFill>
              </a:rPr>
              <a:t>Final Results: </a:t>
            </a:r>
            <a:r>
              <a:rPr sz="1500" b="0" dirty="0" err="1">
                <a:solidFill>
                  <a:srgbClr val="626E84"/>
                </a:solidFill>
              </a:rPr>
              <a:t>resumo</a:t>
            </a:r>
            <a:r>
              <a:rPr sz="1500" b="0" dirty="0">
                <a:solidFill>
                  <a:srgbClr val="626E84"/>
                </a:solidFill>
              </a:rPr>
              <a:t> do </a:t>
            </a:r>
            <a:r>
              <a:rPr sz="1500" b="0" dirty="0" err="1">
                <a:solidFill>
                  <a:srgbClr val="626E84"/>
                </a:solidFill>
              </a:rPr>
              <a:t>desempenho</a:t>
            </a:r>
            <a:endParaRPr sz="1500" b="0" dirty="0">
              <a:solidFill>
                <a:srgbClr val="626E8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3736"/>
          </a:xfrm>
          <a:prstGeom prst="rect">
            <a:avLst/>
          </a:prstGeom>
          <a:solidFill>
            <a:srgbClr val="F1A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2286000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700" b="0">
                <a:solidFill>
                  <a:srgbClr val="788296"/>
                </a:solidFill>
                <a:latin typeface="Aptos"/>
              </a:rPr>
              <a:t>LabHero · Estágio de Verão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6446520"/>
            <a:ext cx="1828800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700" b="0">
                <a:solidFill>
                  <a:srgbClr val="788296"/>
                </a:solidFill>
                <a:latin typeface="Aptos"/>
              </a:rPr>
              <a:t>CEB · Universidade do Minho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789920" cy="5029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3000" b="1">
                <a:solidFill>
                  <a:srgbClr val="122F58"/>
                </a:solidFill>
                <a:latin typeface="Aptos Display"/>
              </a:rPr>
              <a:t>Consumíveis: pequenas mecânicas de exploração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600" b="0">
                <a:solidFill>
                  <a:srgbClr val="55647D"/>
                </a:solidFill>
                <a:latin typeface="Aptos"/>
              </a:rPr>
              <a:t>Foram adicionados objetos que alteram temporariamente a velocidade do jogador e dão mais vida ao mapa.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7315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8429" y="5532120"/>
            <a:ext cx="5166479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0" dirty="0" err="1">
                <a:solidFill>
                  <a:srgbClr val="646E7D"/>
                </a:solidFill>
                <a:latin typeface="Aptos"/>
              </a:rPr>
              <a:t>Exemplo</a:t>
            </a:r>
            <a:r>
              <a:rPr sz="1400" b="0" dirty="0">
                <a:solidFill>
                  <a:srgbClr val="646E7D"/>
                </a:solidFill>
                <a:latin typeface="Aptos"/>
              </a:rPr>
              <a:t> no </a:t>
            </a:r>
            <a:r>
              <a:rPr sz="1400" b="0" dirty="0" err="1">
                <a:solidFill>
                  <a:srgbClr val="646E7D"/>
                </a:solidFill>
                <a:latin typeface="Aptos"/>
              </a:rPr>
              <a:t>mapa</a:t>
            </a:r>
            <a:r>
              <a:rPr sz="1400" b="0" dirty="0">
                <a:solidFill>
                  <a:srgbClr val="646E7D"/>
                </a:solidFill>
                <a:latin typeface="Aptos"/>
              </a:rPr>
              <a:t>: coffee, apple e lamp </a:t>
            </a:r>
            <a:r>
              <a:rPr sz="1400" b="0" dirty="0" err="1">
                <a:solidFill>
                  <a:srgbClr val="646E7D"/>
                </a:solidFill>
                <a:latin typeface="Aptos"/>
              </a:rPr>
              <a:t>como</a:t>
            </a:r>
            <a:r>
              <a:rPr sz="1400" b="0" dirty="0">
                <a:solidFill>
                  <a:srgbClr val="646E7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46E7D"/>
                </a:solidFill>
                <a:latin typeface="Aptos"/>
              </a:rPr>
              <a:t>objetos</a:t>
            </a:r>
            <a:r>
              <a:rPr sz="1400" b="0" dirty="0">
                <a:solidFill>
                  <a:srgbClr val="646E7D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46E7D"/>
                </a:solidFill>
                <a:latin typeface="Aptos"/>
              </a:rPr>
              <a:t>interativos</a:t>
            </a:r>
            <a:endParaRPr sz="1400" b="0" dirty="0">
              <a:solidFill>
                <a:srgbClr val="646E7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55648"/>
            <a:ext cx="288036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122F58"/>
                </a:solidFill>
                <a:latin typeface="Aptos"/>
              </a:rPr>
              <a:t>Efeito no jogador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331720"/>
            <a:ext cx="960120" cy="320040"/>
          </a:xfrm>
          <a:prstGeom prst="roundRect">
            <a:avLst/>
          </a:prstGeom>
          <a:solidFill>
            <a:srgbClr val="2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Coffee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313432"/>
            <a:ext cx="1737360" cy="5029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23324B"/>
                </a:solidFill>
                <a:latin typeface="Aptos"/>
              </a:rPr>
              <a:t>acelera temporariamente
900 px/s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291839"/>
            <a:ext cx="960120" cy="320040"/>
          </a:xfrm>
          <a:prstGeom prst="roundRect">
            <a:avLst/>
          </a:prstGeom>
          <a:solidFill>
            <a:srgbClr val="F1A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273551"/>
            <a:ext cx="1737360" cy="5029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23324B"/>
                </a:solidFill>
                <a:latin typeface="Aptos"/>
              </a:rPr>
              <a:t>abranda temporariamente
600 px/s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251959"/>
            <a:ext cx="960120" cy="320040"/>
          </a:xfrm>
          <a:prstGeom prst="roundRect">
            <a:avLst/>
          </a:prstGeom>
          <a:solidFill>
            <a:srgbClr val="2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4233672"/>
            <a:ext cx="1737360" cy="5029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23324B"/>
                </a:solidFill>
                <a:latin typeface="Aptos"/>
              </a:rPr>
              <a:t>repõe velocidade base
750 px/s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257800"/>
            <a:ext cx="3133935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0" dirty="0" err="1">
                <a:solidFill>
                  <a:srgbClr val="55647D"/>
                </a:solidFill>
                <a:latin typeface="Aptos"/>
              </a:rPr>
              <a:t>Objetivo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: </a:t>
            </a:r>
            <a:r>
              <a:rPr sz="1200" b="0" dirty="0" err="1">
                <a:solidFill>
                  <a:srgbClr val="55647D"/>
                </a:solidFill>
                <a:latin typeface="Aptos"/>
              </a:rPr>
              <a:t>reforçar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 a </a:t>
            </a:r>
            <a:r>
              <a:rPr sz="1200" b="0" dirty="0" err="1">
                <a:solidFill>
                  <a:srgbClr val="55647D"/>
                </a:solidFill>
                <a:latin typeface="Aptos"/>
              </a:rPr>
              <a:t>exploração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5647D"/>
                </a:solidFill>
                <a:latin typeface="Aptos"/>
              </a:rPr>
              <a:t>sem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5647D"/>
                </a:solidFill>
                <a:latin typeface="Aptos"/>
              </a:rPr>
              <a:t>desviar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 </a:t>
            </a:r>
            <a:r>
              <a:rPr sz="1200" b="0" dirty="0" smtClean="0">
                <a:solidFill>
                  <a:srgbClr val="55647D"/>
                </a:solidFill>
                <a:latin typeface="Aptos"/>
              </a:rPr>
              <a:t>o</a:t>
            </a:r>
            <a:endParaRPr lang="pt-PT" sz="1200" b="0" dirty="0" smtClean="0">
              <a:solidFill>
                <a:srgbClr val="55647D"/>
              </a:solidFill>
              <a:latin typeface="Aptos"/>
            </a:endParaRPr>
          </a:p>
          <a:p>
            <a:pPr algn="l"/>
            <a:r>
              <a:rPr sz="1200" b="0" dirty="0" err="1" smtClean="0">
                <a:solidFill>
                  <a:srgbClr val="55647D"/>
                </a:solidFill>
                <a:latin typeface="Aptos"/>
              </a:rPr>
              <a:t>foco</a:t>
            </a:r>
            <a:r>
              <a:rPr sz="1200" b="0" dirty="0" smtClean="0">
                <a:solidFill>
                  <a:srgbClr val="55647D"/>
                </a:solidFill>
                <a:latin typeface="Aptos"/>
              </a:rPr>
              <a:t> 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principal dos </a:t>
            </a:r>
            <a:r>
              <a:rPr sz="1200" b="0" dirty="0" err="1">
                <a:solidFill>
                  <a:srgbClr val="55647D"/>
                </a:solidFill>
                <a:latin typeface="Aptos"/>
              </a:rPr>
              <a:t>desafios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5647D"/>
                </a:solidFill>
                <a:latin typeface="Aptos"/>
              </a:rPr>
              <a:t>científicos</a:t>
            </a:r>
            <a:r>
              <a:rPr sz="1200" b="0" dirty="0">
                <a:solidFill>
                  <a:srgbClr val="55647D"/>
                </a:solidFill>
                <a:latin typeface="Aptos"/>
              </a:rPr>
              <a:t>.</a:t>
            </a:r>
          </a:p>
        </p:txBody>
      </p:sp>
      <p:pic>
        <p:nvPicPr>
          <p:cNvPr id="19" name="Picture 18" descr="6bae6b20-7af9-5f78-a0e2-71b80fc704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91" y="1673352"/>
            <a:ext cx="6737073" cy="3794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Objetivo 2 — O simulador passou a produzir evidência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resposta correta deixa de vir do texto: o jogador tem de configurar, executar, interpretar e concluir.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69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lh_assets/p1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2768"/>
            <a:ext cx="4069080" cy="2395728"/>
          </a:xfrm>
          <a:prstGeom prst="rect">
            <a:avLst/>
          </a:prstGeom>
        </p:spPr>
      </p:pic>
      <p:pic>
        <p:nvPicPr>
          <p:cNvPr id="6" name="Image 1" descr="/mnt/data/lh_assets/p10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14800"/>
            <a:ext cx="4069080" cy="1874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7556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7A7A"/>
                </a:solidFill>
              </a:rPr>
              <a:t>E. coli core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7A7A"/>
                </a:solidFill>
              </a:rPr>
              <a:t>Levedura iMM904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74920" y="1645920"/>
            <a:ext cx="0" cy="434340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539496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Métodos e referências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13248" y="2057400"/>
            <a:ext cx="804672" cy="329184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5486400" y="21259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FBA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327648" y="21122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otimização do objetivo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5413248" y="2624328"/>
            <a:ext cx="804672" cy="329184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5486400" y="269290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pFBA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327648" y="26791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solução parcimoniosa · referência ROOM</a:t>
            </a:r>
            <a:endParaRPr lang="en-US" sz="1120" dirty="0"/>
          </a:p>
        </p:txBody>
      </p:sp>
      <p:sp>
        <p:nvSpPr>
          <p:cNvPr id="17" name="Shape 13"/>
          <p:cNvSpPr/>
          <p:nvPr/>
        </p:nvSpPr>
        <p:spPr>
          <a:xfrm>
            <a:off x="5413248" y="3191256"/>
            <a:ext cx="804672" cy="329184"/>
          </a:xfrm>
          <a:prstGeom prst="roundRect">
            <a:avLst>
              <a:gd name="adj" fmla="val 22222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5486400" y="32598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lMOMA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327648" y="32461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formulação linear de MOMA · ref. FBA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5413248" y="3758184"/>
            <a:ext cx="804672" cy="329184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486400" y="382676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6700"/>
                </a:solidFill>
              </a:rPr>
              <a:t>ROOM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327648" y="38130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formulação MILP · SciPy/HiGHS</a:t>
            </a:r>
            <a:endParaRPr lang="en-US" sz="1120" dirty="0"/>
          </a:p>
        </p:txBody>
      </p:sp>
      <p:sp>
        <p:nvSpPr>
          <p:cNvPr id="23" name="Text 19"/>
          <p:cNvSpPr/>
          <p:nvPr/>
        </p:nvSpPr>
        <p:spPr>
          <a:xfrm>
            <a:off x="5394959" y="4526280"/>
            <a:ext cx="486294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Exemplos de </a:t>
            </a:r>
            <a:r>
              <a:rPr lang="en-US" sz="1700" b="1" dirty="0" err="1" smtClean="0">
                <a:solidFill>
                  <a:srgbClr val="14213D"/>
                </a:solidFill>
              </a:rPr>
              <a:t>desafios</a:t>
            </a:r>
            <a:r>
              <a:rPr lang="en-US" sz="1700" b="1" dirty="0" smtClean="0">
                <a:solidFill>
                  <a:srgbClr val="14213D"/>
                </a:solidFill>
              </a:rPr>
              <a:t> </a:t>
            </a:r>
            <a:r>
              <a:rPr lang="en-US" sz="1700" b="1" dirty="0" err="1" smtClean="0">
                <a:solidFill>
                  <a:srgbClr val="14213D"/>
                </a:solidFill>
              </a:rPr>
              <a:t>ao</a:t>
            </a:r>
            <a:r>
              <a:rPr lang="en-US" sz="1700" b="1" dirty="0" smtClean="0">
                <a:solidFill>
                  <a:srgbClr val="14213D"/>
                </a:solidFill>
              </a:rPr>
              <a:t> </a:t>
            </a:r>
            <a:r>
              <a:rPr lang="en-US" sz="1700" b="1" dirty="0" err="1" smtClean="0">
                <a:solidFill>
                  <a:srgbClr val="14213D"/>
                </a:solidFill>
              </a:rPr>
              <a:t>longo</a:t>
            </a:r>
            <a:r>
              <a:rPr lang="en-US" sz="1700" b="1" dirty="0" smtClean="0">
                <a:solidFill>
                  <a:srgbClr val="14213D"/>
                </a:solidFill>
              </a:rPr>
              <a:t> da </a:t>
            </a:r>
            <a:r>
              <a:rPr lang="en-US" sz="1700" b="1" dirty="0" err="1" smtClean="0">
                <a:solidFill>
                  <a:srgbClr val="14213D"/>
                </a:solidFill>
              </a:rPr>
              <a:t>campanha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5413248" y="4919472"/>
            <a:ext cx="539496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• reações de troca + Exchange Finder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• knockouts e regras GPR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• desenho com limite de knockouts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• crescimento vs. produção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• bound sweeps nas missões finais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6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A diferença mais importante: interpretar, não adivinhar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mesma simulação passou de um resultado escalar para um conjunto de relatórios e diagnósticos.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69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67085"/>
                </a:solidFill>
              </a:rPr>
              <a:t>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72784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62A"/>
                </a:solidFill>
              </a:rPr>
              <a:t>DEPOIS</a:t>
            </a:r>
            <a:endParaRPr lang="en-US" sz="1100" dirty="0"/>
          </a:p>
        </p:txBody>
      </p:sp>
      <p:pic>
        <p:nvPicPr>
          <p:cNvPr id="7" name="Image 0" descr="/mnt/data/lh_assets/p10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83080"/>
            <a:ext cx="4800600" cy="3063240"/>
          </a:xfrm>
          <a:prstGeom prst="rect">
            <a:avLst/>
          </a:prstGeom>
        </p:spPr>
      </p:pic>
      <p:pic>
        <p:nvPicPr>
          <p:cNvPr id="8" name="Image 1" descr="/mnt/data/lh_assets/p10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783080"/>
            <a:ext cx="5074920" cy="2148840"/>
          </a:xfrm>
          <a:prstGeom prst="rect">
            <a:avLst/>
          </a:prstGeom>
        </p:spPr>
      </p:pic>
      <p:pic>
        <p:nvPicPr>
          <p:cNvPr id="9" name="Image 2" descr="/mnt/data/lh_assets/p10_img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041648"/>
            <a:ext cx="5074920" cy="14173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532120" y="2788920"/>
            <a:ext cx="530352" cy="731520"/>
          </a:xfrm>
          <a:prstGeom prst="chevron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/>
          <p:nvPr/>
        </p:nvSpPr>
        <p:spPr>
          <a:xfrm>
            <a:off x="914400" y="58147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Simulation Summary · Exchange Flux Report · Production Flux · Compare Runs · Bound Sweep Report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7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82C57"/>
                </a:solidFill>
              </a:rPr>
              <a:t>Ferramentas de leitura da simulação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dirty="0">
                <a:solidFill>
                  <a:srgbClr val="626E84"/>
                </a:solidFill>
              </a:rPr>
              <a:t>A </a:t>
            </a:r>
            <a:r>
              <a:rPr sz="1700" dirty="0" err="1">
                <a:solidFill>
                  <a:srgbClr val="626E84"/>
                </a:solidFill>
              </a:rPr>
              <a:t>mesma</a:t>
            </a:r>
            <a:r>
              <a:rPr sz="1700" dirty="0">
                <a:solidFill>
                  <a:srgbClr val="626E84"/>
                </a:solidFill>
              </a:rPr>
              <a:t> </a:t>
            </a:r>
            <a:r>
              <a:rPr sz="1700" dirty="0" err="1">
                <a:solidFill>
                  <a:srgbClr val="626E84"/>
                </a:solidFill>
              </a:rPr>
              <a:t>execução</a:t>
            </a:r>
            <a:r>
              <a:rPr sz="1700" dirty="0">
                <a:solidFill>
                  <a:srgbClr val="626E84"/>
                </a:solidFill>
              </a:rPr>
              <a:t> </a:t>
            </a:r>
            <a:r>
              <a:rPr sz="1700" dirty="0" err="1">
                <a:solidFill>
                  <a:srgbClr val="626E84"/>
                </a:solidFill>
              </a:rPr>
              <a:t>passou</a:t>
            </a:r>
            <a:r>
              <a:rPr sz="1700" dirty="0">
                <a:solidFill>
                  <a:srgbClr val="626E84"/>
                </a:solidFill>
              </a:rPr>
              <a:t> a </a:t>
            </a:r>
            <a:r>
              <a:rPr sz="1700" dirty="0" err="1">
                <a:solidFill>
                  <a:srgbClr val="626E84"/>
                </a:solidFill>
              </a:rPr>
              <a:t>devolver</a:t>
            </a:r>
            <a:r>
              <a:rPr sz="1700" dirty="0">
                <a:solidFill>
                  <a:srgbClr val="626E84"/>
                </a:solidFill>
              </a:rPr>
              <a:t> </a:t>
            </a:r>
            <a:r>
              <a:rPr sz="1700" dirty="0" err="1">
                <a:solidFill>
                  <a:srgbClr val="626E84"/>
                </a:solidFill>
              </a:rPr>
              <a:t>evidência</a:t>
            </a:r>
            <a:r>
              <a:rPr sz="1700" dirty="0">
                <a:solidFill>
                  <a:srgbClr val="626E84"/>
                </a:solidFill>
              </a:rPr>
              <a:t> </a:t>
            </a:r>
            <a:r>
              <a:rPr sz="1700" dirty="0" err="1">
                <a:solidFill>
                  <a:srgbClr val="626E84"/>
                </a:solidFill>
              </a:rPr>
              <a:t>interpretável</a:t>
            </a:r>
            <a:r>
              <a:rPr sz="1700" dirty="0">
                <a:solidFill>
                  <a:srgbClr val="626E84"/>
                </a:solidFill>
              </a:rPr>
              <a:t>, com </a:t>
            </a:r>
            <a:r>
              <a:rPr sz="1700" dirty="0" err="1">
                <a:solidFill>
                  <a:srgbClr val="626E84"/>
                </a:solidFill>
              </a:rPr>
              <a:t>configuração</a:t>
            </a:r>
            <a:r>
              <a:rPr sz="1700" dirty="0">
                <a:solidFill>
                  <a:srgbClr val="626E84"/>
                </a:solidFill>
              </a:rPr>
              <a:t> </a:t>
            </a:r>
            <a:r>
              <a:rPr sz="1700" dirty="0" err="1">
                <a:solidFill>
                  <a:srgbClr val="626E84"/>
                </a:solidFill>
              </a:rPr>
              <a:t>explícita</a:t>
            </a:r>
            <a:r>
              <a:rPr sz="1700" dirty="0">
                <a:solidFill>
                  <a:srgbClr val="626E84"/>
                </a:solidFill>
              </a:rPr>
              <a:t> e </a:t>
            </a:r>
            <a:r>
              <a:rPr sz="1700" dirty="0" err="1">
                <a:solidFill>
                  <a:srgbClr val="626E84"/>
                </a:solidFill>
              </a:rPr>
              <a:t>leitura</a:t>
            </a:r>
            <a:r>
              <a:rPr sz="1700" dirty="0">
                <a:solidFill>
                  <a:srgbClr val="626E84"/>
                </a:solidFill>
              </a:rPr>
              <a:t> dos </a:t>
            </a:r>
            <a:r>
              <a:rPr sz="1700" dirty="0" err="1">
                <a:solidFill>
                  <a:srgbClr val="626E84"/>
                </a:solidFill>
              </a:rPr>
              <a:t>fluxos</a:t>
            </a:r>
            <a:r>
              <a:rPr sz="1700" dirty="0">
                <a:solidFill>
                  <a:srgbClr val="626E84"/>
                </a:solidFill>
              </a:rPr>
              <a:t> de </a:t>
            </a:r>
            <a:r>
              <a:rPr sz="1700" dirty="0" err="1">
                <a:solidFill>
                  <a:srgbClr val="626E84"/>
                </a:solidFill>
              </a:rPr>
              <a:t>troca</a:t>
            </a:r>
            <a:r>
              <a:rPr sz="1700" dirty="0">
                <a:solidFill>
                  <a:srgbClr val="626E84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15837"/>
            <a:ext cx="658368" cy="4445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44068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56232"/>
            <a:ext cx="5294376" cy="2982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10912"/>
            <a:ext cx="5294376" cy="3657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600" b="0">
                <a:solidFill>
                  <a:srgbClr val="626E84"/>
                </a:solidFill>
              </a:rPr>
              <a:t>Simulation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4068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56232"/>
            <a:ext cx="5294376" cy="29821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5352" y="5010912"/>
            <a:ext cx="5294376" cy="3657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600" b="0">
                <a:solidFill>
                  <a:srgbClr val="626E84"/>
                </a:solidFill>
              </a:rPr>
              <a:t>Exchange Flux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725802"/>
            <a:ext cx="10149840" cy="605162"/>
          </a:xfrm>
          <a:prstGeom prst="roundRect">
            <a:avLst>
              <a:gd name="adj" fmla="val 6000"/>
            </a:avLst>
          </a:prstGeom>
          <a:solidFill>
            <a:srgbClr val="F1F7FA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" y="5677590"/>
            <a:ext cx="10076688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550" b="1" dirty="0" err="1">
                <a:solidFill>
                  <a:srgbClr val="182C57"/>
                </a:solidFill>
              </a:rPr>
              <a:t>Configuração</a:t>
            </a:r>
            <a:r>
              <a:rPr sz="1550" b="1" dirty="0">
                <a:solidFill>
                  <a:srgbClr val="182C57"/>
                </a:solidFill>
              </a:rPr>
              <a:t> da </a:t>
            </a:r>
            <a:r>
              <a:rPr sz="1550" b="1" dirty="0" err="1">
                <a:solidFill>
                  <a:srgbClr val="182C57"/>
                </a:solidFill>
              </a:rPr>
              <a:t>execução</a:t>
            </a:r>
            <a:r>
              <a:rPr sz="1550" b="1" dirty="0">
                <a:solidFill>
                  <a:srgbClr val="182C57"/>
                </a:solidFill>
              </a:rPr>
              <a:t> · </a:t>
            </a:r>
            <a:r>
              <a:rPr sz="1550" b="1" dirty="0" err="1">
                <a:solidFill>
                  <a:srgbClr val="182C57"/>
                </a:solidFill>
              </a:rPr>
              <a:t>objetivo</a:t>
            </a:r>
            <a:r>
              <a:rPr sz="1550" b="1" dirty="0">
                <a:solidFill>
                  <a:srgbClr val="182C57"/>
                </a:solidFill>
              </a:rPr>
              <a:t> </a:t>
            </a:r>
            <a:r>
              <a:rPr sz="1550" b="1" dirty="0" err="1">
                <a:solidFill>
                  <a:srgbClr val="182C57"/>
                </a:solidFill>
              </a:rPr>
              <a:t>primário</a:t>
            </a:r>
            <a:r>
              <a:rPr sz="1550" b="1" dirty="0">
                <a:solidFill>
                  <a:srgbClr val="182C57"/>
                </a:solidFill>
              </a:rPr>
              <a:t> · gene knockouts · uptake vs secretion · </a:t>
            </a:r>
            <a:r>
              <a:rPr sz="1550" b="1" dirty="0" err="1">
                <a:solidFill>
                  <a:srgbClr val="182C57"/>
                </a:solidFill>
              </a:rPr>
              <a:t>unidades</a:t>
            </a:r>
            <a:r>
              <a:rPr sz="1550" b="1" dirty="0">
                <a:solidFill>
                  <a:srgbClr val="182C57"/>
                </a:solidFill>
              </a:rPr>
              <a:t> </a:t>
            </a:r>
            <a:r>
              <a:rPr sz="1550" b="1" dirty="0" err="1">
                <a:solidFill>
                  <a:srgbClr val="182C57"/>
                </a:solidFill>
              </a:rPr>
              <a:t>explícitas</a:t>
            </a:r>
            <a:endParaRPr sz="1550" b="1" dirty="0">
              <a:solidFill>
                <a:srgbClr val="182C5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393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C57"/>
                </a:solidFill>
              </a:rPr>
              <a:t>Comparação do simulador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984"/>
                </a:solidFill>
              </a:rPr>
              <a:t>O Compare Runs junta duas execuções controladas e explica, em linguagem legível, o que realmente mudou.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11681"/>
            <a:ext cx="658368" cy="4572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62356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93833"/>
            <a:ext cx="5532120" cy="31160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074920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5B6984"/>
                </a:solidFill>
              </a:rPr>
              <a:t>Compare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516636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2048256"/>
            <a:ext cx="4526280" cy="676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C57"/>
                </a:solidFill>
              </a:rPr>
              <a:t>Leitura orientada da comparação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816352"/>
            <a:ext cx="4572000" cy="2331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30">
                <a:solidFill>
                  <a:srgbClr val="2C3E50"/>
                </a:solidFill>
              </a:defRPr>
            </a:pPr>
            <a:r>
              <a:t>• Run A funciona como baseline e Run B como execução alterada.</a:t>
            </a:r>
          </a:p>
          <a:p>
            <a:pPr>
              <a:defRPr sz="1530">
                <a:solidFill>
                  <a:srgbClr val="2C3E50"/>
                </a:solidFill>
              </a:defRPr>
            </a:pPr>
            <a:r>
              <a:t>• O relatório identifica método, objetivo, genes desligados, ambiente e fluxos acompanhados.</a:t>
            </a:r>
          </a:p>
          <a:p>
            <a:pPr>
              <a:defRPr sz="1530">
                <a:solidFill>
                  <a:srgbClr val="2C3E50"/>
                </a:solidFill>
              </a:defRPr>
            </a:pPr>
            <a:r>
              <a:t>• A comparação textual ajuda o aluno a perceber causa e efeito sem adivinhar o resultado.</a:t>
            </a:r>
          </a:p>
          <a:p>
            <a:pPr>
              <a:defRPr sz="1530">
                <a:solidFill>
                  <a:srgbClr val="2C3E50"/>
                </a:solidFill>
              </a:defRPr>
            </a:pPr>
            <a:r>
              <a:t>• Nas missões, isto transforma duas corridas isoladas numa evidência comparável e justificável.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15000"/>
            <a:ext cx="10058400" cy="384048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2C57"/>
                </a:solidFill>
              </a:rPr>
              <a:t>Baseline + perturbação controlada + explicação textual do impacto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393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82C57"/>
                </a:solidFill>
              </a:rPr>
              <a:t>Exploração do simulador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B6984"/>
                </a:solidFill>
              </a:rPr>
              <a:t>Além da comparação, o jogador pode pesquisar reações, selecionar produtos a acompanhar e explorar variações controladas de bounds.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15836"/>
            <a:ext cx="658368" cy="4572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7b3a0e-f7d7-5ccd-8479-245c0d3aa6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105564"/>
            <a:ext cx="3319272" cy="1869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2702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B6984"/>
                </a:solidFill>
              </a:rPr>
              <a:t>Production Flux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572000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D576B"/>
                </a:solidFill>
              </a:rPr>
              <a:t>Seleciona fluxos de produto a seguir em New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8224" y="182880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2105564"/>
            <a:ext cx="3319272" cy="18696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69664" y="42702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B6984"/>
                </a:solidFill>
              </a:rPr>
              <a:t>Exchange Reaction Finder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4572000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D576B"/>
                </a:solidFill>
              </a:rPr>
              <a:t>Procura reações por nome ou ID sem decorar identificadores completos.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3527" y="182880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1" y="2105564"/>
            <a:ext cx="3319272" cy="18696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44967" y="42702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B6984"/>
                </a:solidFill>
              </a:rPr>
              <a:t>Bound Sweep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4572000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D576B"/>
                </a:solidFill>
              </a:rPr>
              <a:t>Varre intervalos de bound e observa a resposta do modelo ao longo de vários pontos.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6005940"/>
            <a:ext cx="10378440" cy="292608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82C57"/>
                </a:solidFill>
              </a:rPr>
              <a:t>Explorar, procurar e acompanhar resultados passou a fazer parte da própria aprendizagem.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Objetivo 3 — Do browser experimental a um serviço utilizável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Frontend WebAssembly, backend multi-modelo, persistência e deployment no servidor do CEB.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063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64008" cy="18745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59536" y="20391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441448"/>
            <a:ext cx="26974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Python / Pygame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→ Pygbag / WebAssembly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Jogo executado diretamente no browser.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160520" y="1874520"/>
            <a:ext cx="3063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60520" y="1874520"/>
            <a:ext cx="64008" cy="187452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61688" y="20391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61688" y="2441448"/>
            <a:ext cx="26974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FastAPI + Uvicorn + MEWpy + COBRApy + SciPy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~100 → &gt;750 linhas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Suporte multi-modelo e isolamento por pedido.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662672" y="1874520"/>
            <a:ext cx="324362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662672" y="1874520"/>
            <a:ext cx="64008" cy="1874520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863840" y="20391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Produção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39" y="2441448"/>
            <a:ext cx="3258589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 err="1" smtClean="0">
                <a:solidFill>
                  <a:srgbClr val="172033"/>
                </a:solidFill>
              </a:rPr>
              <a:t>Podman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Docker Compose para </a:t>
            </a:r>
            <a:r>
              <a:rPr lang="en-US" sz="1120" dirty="0" err="1" smtClean="0">
                <a:solidFill>
                  <a:srgbClr val="172033"/>
                </a:solidFill>
              </a:rPr>
              <a:t>desenvolvimento</a:t>
            </a:r>
            <a:r>
              <a:rPr lang="en-US" sz="1120" dirty="0" smtClean="0">
                <a:solidFill>
                  <a:srgbClr val="172033"/>
                </a:solidFill>
              </a:rPr>
              <a:t> local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nginx + cache fingerprinting.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794760" y="2450592"/>
            <a:ext cx="256032" cy="5029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96912" y="2450592"/>
            <a:ext cx="256032" cy="5029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416052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8368" y="4160520"/>
            <a:ext cx="64008" cy="1234440"/>
          </a:xfrm>
          <a:prstGeom prst="rect">
            <a:avLst/>
          </a:prstGeom>
          <a:solidFill>
            <a:srgbClr val="157A7A"/>
          </a:solidFill>
          <a:ln w="12700">
            <a:solidFill>
              <a:srgbClr val="15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" y="43251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Persistência web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" y="4727448"/>
            <a:ext cx="45262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localStorage + autosave durante o jogo.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806440" y="4160520"/>
            <a:ext cx="49194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806440" y="4160520"/>
            <a:ext cx="64008" cy="1234440"/>
          </a:xfrm>
          <a:prstGeom prst="rect">
            <a:avLst/>
          </a:prstGeom>
          <a:solidFill>
            <a:srgbClr val="157A7A"/>
          </a:solidFill>
          <a:ln w="12700">
            <a:solidFill>
              <a:srgbClr val="157A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007608" y="432511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Teacher Preview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07608" y="4727448"/>
            <a:ext cx="45537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Pré-visualização de qualquer missão Normal/Easy, autenticada e isolada do progresso do aluno.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2011680" y="5650992"/>
            <a:ext cx="8138160" cy="475488"/>
          </a:xfrm>
          <a:prstGeom prst="roundRect">
            <a:avLst>
              <a:gd name="adj" fmla="val 9615"/>
            </a:avLst>
          </a:prstGeom>
          <a:solidFill>
            <a:srgbClr val="FFF1D6"/>
          </a:solidFill>
          <a:ln w="12700">
            <a:solidFill>
              <a:srgbClr val="F4D0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148840" y="576986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A00"/>
                </a:solidFill>
              </a:rPr>
              <a:t>labhero.bio.di.uminho.pt  ·  jogável sem instalação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9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</a:rPr>
              <a:t>Engenharia e validação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O crescimento do projeto foi acompanhado por regressão automática, CI e validação manual.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914400" cy="0"/>
          </a:xfrm>
          <a:prstGeom prst="line">
            <a:avLst/>
          </a:prstGeom>
          <a:noFill/>
          <a:ln w="381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68096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13D"/>
                </a:solidFill>
              </a:rPr>
              <a:t>23 → 83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módulos Python em code/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600200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511296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13D"/>
                </a:solidFill>
              </a:rPr>
              <a:t>3 → 40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66160" y="23134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módulos de missão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1600200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54496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13D"/>
                </a:solidFill>
              </a:rPr>
              <a:t>20 → 43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09360" y="23134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módulos partilhados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87968" y="1600200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1D6"/>
          </a:solidFill>
          <a:ln w="12700">
            <a:solidFill>
              <a:srgbClr val="F4D0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997696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9A6700"/>
                </a:solidFill>
              </a:rPr>
              <a:t>110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052560" y="23134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ficheiros test_*.py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Ciclo de desenvolvimento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3913632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40233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" y="4526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Conceito científico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80160" y="4151376"/>
            <a:ext cx="1508760" cy="0"/>
          </a:xfrm>
          <a:prstGeom prst="line">
            <a:avLst/>
          </a:prstGeom>
          <a:noFill/>
          <a:ln w="2540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926080" y="3913632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926080" y="40233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4526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Implementação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93008" y="4151376"/>
            <a:ext cx="1508760" cy="0"/>
          </a:xfrm>
          <a:prstGeom prst="line">
            <a:avLst/>
          </a:prstGeom>
          <a:noFill/>
          <a:ln w="2540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138928" y="3913632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138928" y="40233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01768" y="4526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Teste manual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05856" y="4151376"/>
            <a:ext cx="1508760" cy="0"/>
          </a:xfrm>
          <a:prstGeom prst="line">
            <a:avLst/>
          </a:prstGeom>
          <a:noFill/>
          <a:ln w="2540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351776" y="3913632"/>
            <a:ext cx="475488" cy="4754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351776" y="40233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14616" y="4526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Teste de regressão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18704" y="4151376"/>
            <a:ext cx="1508760" cy="0"/>
          </a:xfrm>
          <a:prstGeom prst="line">
            <a:avLst/>
          </a:prstGeom>
          <a:noFill/>
          <a:ln w="2540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9564624" y="3913632"/>
            <a:ext cx="475488" cy="475488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564624" y="40233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27464" y="4526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Refatoração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0120" y="53492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GitHub Actions: compilação Python + suite de regressão em pushes e pull requests · inclui simulador de levedura, Exchange Finder e validação web.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494"/>
                </a:solidFill>
              </a:defRPr>
            </a:lvl1pPr>
          </a:lstStyle>
          <a:p>
            <a:pPr algn="ctr"/>
            <a:r>
              <a:rPr sz="1000">
                <a:solidFill>
                  <a:srgbClr val="888F9C"/>
                </a:solidFill>
                <a:latin typeface="Aptos"/>
              </a:rPr>
              <a:t>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82B4E"/>
                </a:solidFill>
                <a:latin typeface="Aptos Display"/>
              </a:rPr>
              <a:t>Teacher Preview e versão web jogável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06B7E"/>
                </a:solidFill>
                <a:latin typeface="Aptos"/>
              </a:rPr>
              <a:t>A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disponibilização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online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passou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a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incluir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pré-visualização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autenticada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missões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e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persistência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do </a:t>
            </a:r>
            <a:r>
              <a:rPr sz="1600" b="0" dirty="0" err="1">
                <a:solidFill>
                  <a:srgbClr val="606B7E"/>
                </a:solidFill>
                <a:latin typeface="Aptos"/>
              </a:rPr>
              <a:t>progresso</a:t>
            </a:r>
            <a:r>
              <a:rPr sz="1600" b="0" dirty="0">
                <a:solidFill>
                  <a:srgbClr val="606B7E"/>
                </a:solidFill>
                <a:latin typeface="Aptos"/>
              </a:rPr>
              <a:t> no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428" y="1632712"/>
            <a:ext cx="658368" cy="44450"/>
          </a:xfrm>
          <a:prstGeom prst="rect">
            <a:avLst/>
          </a:prstGeom>
          <a:solidFill>
            <a:srgbClr val="ECA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8404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82B4E"/>
                </a:solidFill>
                <a:latin typeface="Aptos Display"/>
              </a:rPr>
              <a:t>Em contexto letivo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3511296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A35"/>
                </a:solidFill>
                <a:latin typeface="Aptos"/>
              </a:defRPr>
            </a:pPr>
            <a:r>
              <a:t>Teacher Preview protegido, com acesso a qualquer missão em modo Normal ou Easy.</a:t>
            </a:r>
          </a:p>
          <a:p>
            <a:pPr>
              <a:spcAft>
                <a:spcPts val="400"/>
              </a:spcAft>
              <a:defRPr sz="1400">
                <a:solidFill>
                  <a:srgbClr val="222A35"/>
                </a:solidFill>
                <a:latin typeface="Aptos"/>
              </a:defRPr>
            </a:pPr>
            <a:r>
              <a:t>Pré-visualização isolada: o progresso do aluno não é carregado nem alterado.</a:t>
            </a:r>
          </a:p>
          <a:p>
            <a:pPr>
              <a:spcAft>
                <a:spcPts val="400"/>
              </a:spcAft>
              <a:defRPr sz="1400">
                <a:solidFill>
                  <a:srgbClr val="222A35"/>
                </a:solidFill>
                <a:latin typeface="Aptos"/>
              </a:defRPr>
            </a:pPr>
            <a:r>
              <a:t>Versão web jogável sem instalação, com localStorage namespaced e autosave.</a:t>
            </a:r>
          </a:p>
          <a:p>
            <a:pPr>
              <a:spcAft>
                <a:spcPts val="400"/>
              </a:spcAft>
              <a:defRPr sz="1400">
                <a:solidFill>
                  <a:srgbClr val="222A35"/>
                </a:solidFill>
                <a:latin typeface="Aptos"/>
              </a:defRPr>
            </a:pPr>
            <a:r>
              <a:t>Disponibilização em produção: labhero.bio.di.uminho.pt.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0332" y="1664208"/>
            <a:ext cx="580644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42" y="1737360"/>
            <a:ext cx="2402619" cy="1353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25780" y="3094827"/>
            <a:ext cx="54406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5B6984"/>
                </a:solidFill>
              </a:rPr>
              <a:t>Teacher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0332" y="3639312"/>
            <a:ext cx="580644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60" y="507741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5B6984"/>
                </a:solidFill>
              </a:rPr>
              <a:t>Teacher Preview — Mission 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0331" y="5734117"/>
            <a:ext cx="5806440" cy="411480"/>
          </a:xfrm>
          <a:prstGeom prst="roundRect">
            <a:avLst/>
          </a:prstGeom>
          <a:solidFill>
            <a:srgbClr val="F7EDD3"/>
          </a:solidFill>
          <a:ln w="12700">
            <a:solidFill>
              <a:srgbClr val="DEC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C28A16"/>
                </a:solidFill>
              </a:rPr>
              <a:t>labhero.bio.di.uminho.pt  ·  </a:t>
            </a:r>
            <a:r>
              <a:rPr sz="1600" b="1" dirty="0" err="1">
                <a:solidFill>
                  <a:srgbClr val="C28A16"/>
                </a:solidFill>
              </a:rPr>
              <a:t>jogável</a:t>
            </a:r>
            <a:r>
              <a:rPr sz="1600" b="1" dirty="0">
                <a:solidFill>
                  <a:srgbClr val="C28A16"/>
                </a:solidFill>
              </a:rPr>
              <a:t> </a:t>
            </a:r>
            <a:r>
              <a:rPr sz="1600" b="1" dirty="0" err="1">
                <a:solidFill>
                  <a:srgbClr val="C28A16"/>
                </a:solidFill>
              </a:rPr>
              <a:t>sem</a:t>
            </a:r>
            <a:r>
              <a:rPr sz="1600" b="1" dirty="0">
                <a:solidFill>
                  <a:srgbClr val="C28A16"/>
                </a:solidFill>
              </a:rPr>
              <a:t> </a:t>
            </a:r>
            <a:r>
              <a:rPr sz="1600" b="1" dirty="0" err="1" smtClean="0">
                <a:solidFill>
                  <a:srgbClr val="C28A16"/>
                </a:solidFill>
              </a:rPr>
              <a:t>instalação</a:t>
            </a:r>
            <a:endParaRPr sz="1600" b="1" dirty="0">
              <a:solidFill>
                <a:srgbClr val="C28A16"/>
              </a:solidFill>
            </a:endParaRPr>
          </a:p>
        </p:txBody>
      </p:sp>
      <p:pic>
        <p:nvPicPr>
          <p:cNvPr id="16" name="Picture 15" descr="6dcc1fb7-874f-49bf-974d-246d87aa96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42" y="3712463"/>
            <a:ext cx="2402619" cy="13533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Resultado final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61872"/>
            <a:ext cx="914400" cy="0"/>
          </a:xfrm>
          <a:prstGeom prst="line">
            <a:avLst/>
          </a:prstGeom>
          <a:noFill/>
          <a:ln w="50800">
            <a:solidFill>
              <a:srgbClr val="F4A6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EF2F8"/>
                </a:solidFill>
              </a:rPr>
              <a:t>O LabHero passou de um protótipo curto para uma campanha completa, com simulação mais interpretável e uma versão web disponibilizada em produção.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62A"/>
                </a:solidFill>
              </a:rPr>
              <a:t>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3"/>
                </a:solidFill>
              </a:rPr>
              <a:t>missões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62A"/>
                </a:solidFill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3"/>
                </a:solidFill>
              </a:rPr>
              <a:t>modos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62A"/>
                </a:solidFill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3"/>
                </a:solidFill>
              </a:rPr>
              <a:t>modelos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62A"/>
                </a:solidFill>
              </a:rPr>
              <a:t>110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0" y="3685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2E3"/>
                </a:solidFill>
              </a:rPr>
              <a:t>ficheiros de teste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Próximos passos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0109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9D2E3"/>
                </a:solidFill>
              </a:rPr>
              <a:t>Validação pedagógica em sala de aula · métricas agregadas para docentes · </a:t>
            </a:r>
            <a:r>
              <a:rPr lang="en-US" sz="1300" dirty="0" err="1">
                <a:solidFill>
                  <a:srgbClr val="C9D2E3"/>
                </a:solidFill>
              </a:rPr>
              <a:t>mais</a:t>
            </a:r>
            <a:r>
              <a:rPr lang="en-US" sz="1300" dirty="0">
                <a:solidFill>
                  <a:srgbClr val="C9D2E3"/>
                </a:solidFill>
              </a:rPr>
              <a:t> </a:t>
            </a:r>
            <a:r>
              <a:rPr lang="en-US" sz="1300" dirty="0" err="1" smtClean="0">
                <a:solidFill>
                  <a:srgbClr val="C9D2E3"/>
                </a:solidFill>
              </a:rPr>
              <a:t>organismos</a:t>
            </a:r>
            <a:r>
              <a:rPr lang="en-US" sz="1300" dirty="0" smtClean="0">
                <a:solidFill>
                  <a:srgbClr val="C9D2E3"/>
                </a:solidFill>
              </a:rPr>
              <a:t>/</a:t>
            </a:r>
            <a:r>
              <a:rPr lang="en-US" sz="1300" dirty="0" err="1" smtClean="0">
                <a:solidFill>
                  <a:srgbClr val="C9D2E3"/>
                </a:solidFill>
              </a:rPr>
              <a:t>modelos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897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smtClean="0">
                <a:solidFill>
                  <a:srgbClr val="FFFFFF"/>
                </a:solidFill>
              </a:rPr>
              <a:t>Obrigado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59618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2E3"/>
                </a:solidFill>
              </a:rPr>
              <a:t>labhero.bio.di.uminho.pt   ·   github.com/hhtomaswt11/LabHero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2811</Words>
  <Application>Microsoft Office PowerPoint</Application>
  <PresentationFormat>Ecrã Panorâmico</PresentationFormat>
  <Paragraphs>280</Paragraphs>
  <Slides>20</Slides>
  <Notes>19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Universidade do Minho — CEB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LabHero — Estágio de Verão</dc:title>
  <dc:subject>Apresentação de Estágio de Verão — LabHero</dc:subject>
  <dc:creator>Tomás Henrique Alves Melo</dc:creator>
  <cp:lastModifiedBy>Tomás Melo</cp:lastModifiedBy>
  <cp:revision>15</cp:revision>
  <dcterms:created xsi:type="dcterms:W3CDTF">2026-09-14T23:51:27Z</dcterms:created>
  <dcterms:modified xsi:type="dcterms:W3CDTF">2026-09-21T15:16:41Z</dcterms:modified>
</cp:coreProperties>
</file>